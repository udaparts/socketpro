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  <p:sldId id="267" r:id="rId10"/>
    <p:sldId id="268" r:id="rId11"/>
    <p:sldId id="264" r:id="rId12"/>
    <p:sldId id="273" r:id="rId13"/>
    <p:sldId id="272" r:id="rId14"/>
    <p:sldId id="271" r:id="rId15"/>
    <p:sldId id="265" r:id="rId16"/>
    <p:sldId id="266" r:id="rId17"/>
    <p:sldId id="270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48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88D7C-336E-45F8-BEA0-AF649F1C5F8F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B08FD-1ECA-4D30-998A-9EA9521215B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0963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1987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3011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6323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1443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594DA-33B1-427B-8381-A78166343C28}" type="datetimeFigureOut">
              <a:rPr lang="en-US" smtClean="0"/>
              <a:t>8/27/2014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93601-3099-4291-B04E-573C46A625B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905000"/>
            <a:ext cx="7772400" cy="1470025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Build Python Distributed Applications by </a:t>
            </a:r>
            <a:r>
              <a:rPr lang="en-US" sz="4800" b="1" dirty="0" err="1" smtClean="0"/>
              <a:t>SocketPro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 smtClean="0"/>
              <a:t>Yuancai</a:t>
            </a:r>
            <a:r>
              <a:rPr lang="en-US" i="1" dirty="0" smtClean="0"/>
              <a:t> (Charlie) Ye</a:t>
            </a:r>
          </a:p>
          <a:p>
            <a:r>
              <a:rPr lang="en-US" b="1" dirty="0" smtClean="0"/>
              <a:t>www.udaparts.com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229600" cy="13128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 smtClean="0"/>
              <a:t>One </a:t>
            </a:r>
            <a:r>
              <a:rPr lang="en-US" sz="4000" dirty="0" err="1" smtClean="0"/>
              <a:t>vs</a:t>
            </a:r>
            <a:r>
              <a:rPr lang="en-US" sz="4000" dirty="0" smtClean="0"/>
              <a:t> multiple</a:t>
            </a:r>
            <a:br>
              <a:rPr lang="en-US" sz="4000" dirty="0" smtClean="0"/>
            </a:br>
            <a:r>
              <a:rPr lang="en-US" sz="4000" dirty="0" smtClean="0"/>
              <a:t>concurrency processing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752600"/>
            <a:ext cx="6705600" cy="44767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371475"/>
            <a:ext cx="8229600" cy="1312863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dirty="0" err="1" smtClean="0"/>
              <a:t>SocketPro</a:t>
            </a:r>
            <a:r>
              <a:rPr lang="en-US" sz="4000" b="1" dirty="0" smtClean="0"/>
              <a:t> Communication Architecture and Components</a:t>
            </a: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685800" y="1981200"/>
            <a:ext cx="7847013" cy="3960813"/>
            <a:chOff x="432" y="1248"/>
            <a:chExt cx="4943" cy="2495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432" y="1248"/>
              <a:ext cx="2543" cy="1919"/>
              <a:chOff x="432" y="1248"/>
              <a:chExt cx="2543" cy="1919"/>
            </a:xfrm>
          </p:grpSpPr>
          <p:sp>
            <p:nvSpPr>
              <p:cNvPr id="16" name="AutoShape 10"/>
              <p:cNvSpPr>
                <a:spLocks noChangeArrowheads="1"/>
              </p:cNvSpPr>
              <p:nvPr/>
            </p:nvSpPr>
            <p:spPr bwMode="auto">
              <a:xfrm>
                <a:off x="720" y="1248"/>
                <a:ext cx="1104" cy="767"/>
              </a:xfrm>
              <a:prstGeom prst="roundRect">
                <a:avLst>
                  <a:gd name="adj" fmla="val 16667"/>
                </a:avLst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1" dirty="0">
                    <a:solidFill>
                      <a:srgbClr val="000000"/>
                    </a:solidFill>
                  </a:rPr>
                  <a:t>Client Core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500" b="1" dirty="0">
                  <a:solidFill>
                    <a:srgbClr val="000000"/>
                  </a:solidFill>
                </a:endParaRP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i="1" dirty="0">
                    <a:solidFill>
                      <a:srgbClr val="000000"/>
                    </a:solidFill>
                  </a:rPr>
                  <a:t>cross-platform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i="1" dirty="0">
                    <a:solidFill>
                      <a:srgbClr val="000000"/>
                    </a:solidFill>
                  </a:rPr>
                  <a:t>native code</a:t>
                </a:r>
              </a:p>
            </p:txBody>
          </p:sp>
          <p:sp>
            <p:nvSpPr>
              <p:cNvPr id="17" name="AutoShape 11"/>
              <p:cNvSpPr>
                <a:spLocks noChangeArrowheads="1"/>
              </p:cNvSpPr>
              <p:nvPr/>
            </p:nvSpPr>
            <p:spPr bwMode="auto">
              <a:xfrm>
                <a:off x="432" y="2400"/>
                <a:ext cx="371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C++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18" name="AutoShape 12"/>
              <p:cNvSpPr>
                <a:spLocks noChangeArrowheads="1"/>
              </p:cNvSpPr>
              <p:nvPr/>
            </p:nvSpPr>
            <p:spPr bwMode="auto">
              <a:xfrm>
                <a:off x="866" y="2400"/>
                <a:ext cx="371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.Net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19" name="AutoShape 13"/>
              <p:cNvSpPr>
                <a:spLocks noChangeArrowheads="1"/>
              </p:cNvSpPr>
              <p:nvPr/>
            </p:nvSpPr>
            <p:spPr bwMode="auto">
              <a:xfrm>
                <a:off x="1301" y="2400"/>
                <a:ext cx="371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 dirty="0">
                    <a:solidFill>
                      <a:srgbClr val="000000"/>
                    </a:solidFill>
                  </a:rPr>
                  <a:t>JavaScript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 dirty="0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20" name="AutoShape 14"/>
              <p:cNvSpPr>
                <a:spLocks noChangeArrowheads="1"/>
              </p:cNvSpPr>
              <p:nvPr/>
            </p:nvSpPr>
            <p:spPr bwMode="auto">
              <a:xfrm>
                <a:off x="1735" y="2400"/>
                <a:ext cx="371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 dirty="0">
                    <a:solidFill>
                      <a:srgbClr val="000000"/>
                    </a:solidFill>
                  </a:rPr>
                  <a:t>Python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 dirty="0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21" name="AutoShape 15"/>
              <p:cNvSpPr>
                <a:spLocks noChangeArrowheads="1"/>
              </p:cNvSpPr>
              <p:nvPr/>
            </p:nvSpPr>
            <p:spPr bwMode="auto">
              <a:xfrm>
                <a:off x="2170" y="2400"/>
                <a:ext cx="371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Java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22" name="AutoShape 16"/>
              <p:cNvSpPr>
                <a:spLocks noChangeArrowheads="1"/>
              </p:cNvSpPr>
              <p:nvPr/>
            </p:nvSpPr>
            <p:spPr bwMode="auto">
              <a:xfrm>
                <a:off x="2604" y="2400"/>
                <a:ext cx="371" cy="767"/>
              </a:xfrm>
              <a:prstGeom prst="roundRect">
                <a:avLst>
                  <a:gd name="adj" fmla="val 16667"/>
                </a:avLst>
              </a:prstGeom>
              <a:ln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 dirty="0">
                    <a:solidFill>
                      <a:srgbClr val="000000"/>
                    </a:solidFill>
                  </a:rPr>
                  <a:t>PHP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 dirty="0">
                    <a:solidFill>
                      <a:srgbClr val="000000"/>
                    </a:solidFill>
                  </a:rPr>
                  <a:t>Adapter</a:t>
                </a:r>
                <a:r>
                  <a:rPr lang="en-US" sz="500" dirty="0">
                    <a:solidFill>
                      <a:srgbClr val="000000"/>
                    </a:solidFill>
                  </a:rPr>
                  <a:t> </a:t>
                </a:r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264" y="1248"/>
              <a:ext cx="2111" cy="1919"/>
              <a:chOff x="3264" y="1248"/>
              <a:chExt cx="2111" cy="1919"/>
            </a:xfrm>
          </p:grpSpPr>
          <p:sp>
            <p:nvSpPr>
              <p:cNvPr id="11" name="AutoShape 22"/>
              <p:cNvSpPr>
                <a:spLocks noChangeArrowheads="1"/>
              </p:cNvSpPr>
              <p:nvPr/>
            </p:nvSpPr>
            <p:spPr bwMode="auto">
              <a:xfrm>
                <a:off x="4080" y="1248"/>
                <a:ext cx="1003" cy="767"/>
              </a:xfrm>
              <a:prstGeom prst="roundRect">
                <a:avLst>
                  <a:gd name="adj" fmla="val 16667"/>
                </a:avLst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1" dirty="0">
                    <a:solidFill>
                      <a:srgbClr val="000000"/>
                    </a:solidFill>
                  </a:rPr>
                  <a:t>Server Core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600" dirty="0">
                  <a:solidFill>
                    <a:srgbClr val="000000"/>
                  </a:solidFill>
                </a:endParaRP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i="1" dirty="0">
                    <a:solidFill>
                      <a:srgbClr val="000000"/>
                    </a:solidFill>
                  </a:rPr>
                  <a:t>cross-platform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i="1" dirty="0">
                    <a:solidFill>
                      <a:srgbClr val="000000"/>
                    </a:solidFill>
                  </a:rPr>
                  <a:t>native code</a:t>
                </a:r>
              </a:p>
            </p:txBody>
          </p:sp>
          <p:sp>
            <p:nvSpPr>
              <p:cNvPr id="12" name="AutoShape 23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468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C++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13" name="AutoShape 24"/>
              <p:cNvSpPr>
                <a:spLocks noChangeArrowheads="1"/>
              </p:cNvSpPr>
              <p:nvPr/>
            </p:nvSpPr>
            <p:spPr bwMode="auto">
              <a:xfrm>
                <a:off x="3812" y="2400"/>
                <a:ext cx="468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.Net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14" name="AutoShape 25"/>
              <p:cNvSpPr>
                <a:spLocks noChangeArrowheads="1"/>
              </p:cNvSpPr>
              <p:nvPr/>
            </p:nvSpPr>
            <p:spPr bwMode="auto">
              <a:xfrm>
                <a:off x="4359" y="2400"/>
                <a:ext cx="468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Python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  <p:sp>
            <p:nvSpPr>
              <p:cNvPr id="15" name="AutoShape 26"/>
              <p:cNvSpPr>
                <a:spLocks noChangeArrowheads="1"/>
              </p:cNvSpPr>
              <p:nvPr/>
            </p:nvSpPr>
            <p:spPr bwMode="auto">
              <a:xfrm>
                <a:off x="4907" y="2400"/>
                <a:ext cx="468" cy="767"/>
              </a:xfrm>
              <a:prstGeom prst="roundRect">
                <a:avLst>
                  <a:gd name="adj" fmla="val 16667"/>
                </a:avLst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Java</a:t>
                </a:r>
              </a:p>
              <a:p>
                <a:pPr algn="ctr">
                  <a:buClrTx/>
                  <a:buFontTx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800" b="1">
                    <a:solidFill>
                      <a:srgbClr val="000000"/>
                    </a:solidFill>
                  </a:rPr>
                  <a:t>Adapter</a:t>
                </a:r>
              </a:p>
            </p:txBody>
          </p:sp>
        </p:grpSp>
        <p:sp>
          <p:nvSpPr>
            <p:cNvPr id="8" name="AutoShape 27"/>
            <p:cNvSpPr>
              <a:spLocks noChangeArrowheads="1"/>
            </p:cNvSpPr>
            <p:nvPr/>
          </p:nvSpPr>
          <p:spPr bwMode="auto">
            <a:xfrm>
              <a:off x="1824" y="1392"/>
              <a:ext cx="2255" cy="384"/>
            </a:xfrm>
            <a:prstGeom prst="leftRightArrow">
              <a:avLst>
                <a:gd name="adj1" fmla="val 50000"/>
                <a:gd name="adj2" fmla="val 149756"/>
              </a:avLst>
            </a:prstGeom>
            <a:solidFill>
              <a:srgbClr val="BBE0E3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700" b="1" dirty="0">
                  <a:solidFill>
                    <a:srgbClr val="FF0066"/>
                  </a:solidFill>
                </a:rPr>
                <a:t>Request batching, asynchrony, parallel communication on TCP/IP</a:t>
              </a:r>
            </a:p>
          </p:txBody>
        </p:sp>
        <p:sp>
          <p:nvSpPr>
            <p:cNvPr id="9" name="Rectangle 28"/>
            <p:cNvSpPr>
              <a:spLocks noChangeArrowheads="1"/>
            </p:cNvSpPr>
            <p:nvPr/>
          </p:nvSpPr>
          <p:spPr bwMode="auto">
            <a:xfrm>
              <a:off x="432" y="3312"/>
              <a:ext cx="2543" cy="431"/>
            </a:xfrm>
            <a:prstGeom prst="rect">
              <a:avLst/>
            </a:prstGeom>
            <a:solidFill>
              <a:srgbClr val="FFFF99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>
                  <a:solidFill>
                    <a:srgbClr val="000000"/>
                  </a:solidFill>
                </a:rPr>
                <a:t>User Client Code</a:t>
              </a:r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3264" y="3312"/>
              <a:ext cx="2111" cy="431"/>
            </a:xfrm>
            <a:prstGeom prst="rect">
              <a:avLst/>
            </a:prstGeom>
            <a:solidFill>
              <a:srgbClr val="FFFF99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>
                  <a:solidFill>
                    <a:srgbClr val="000000"/>
                  </a:solidFill>
                </a:rPr>
                <a:t>User Server Code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55613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mtClean="0"/>
              <a:t>Client Core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28775"/>
            <a:ext cx="5972175" cy="4619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mtClean="0"/>
              <a:t>Client Socket Pool</a:t>
            </a:r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1447800"/>
            <a:ext cx="4972050" cy="3962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1143000" y="5638800"/>
            <a:ext cx="7086600" cy="520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>
                <a:solidFill>
                  <a:srgbClr val="000000"/>
                </a:solidFill>
              </a:rPr>
              <a:t>SocketPro provides loading balancing through persistent queue at client side, and routing service at server side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mtClean="0"/>
              <a:t>Server Core</a:t>
            </a:r>
          </a:p>
        </p:txBody>
      </p:sp>
      <p:pic>
        <p:nvPicPr>
          <p:cNvPr id="92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371600"/>
            <a:ext cx="5972175" cy="4619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Hello World – Python Client Side</a:t>
            </a:r>
            <a:endParaRPr lang="en-US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358139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219200"/>
            <a:ext cx="449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0" y="533400"/>
            <a:ext cx="441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Hello World – Python Server Side</a:t>
            </a:r>
            <a:endParaRPr lang="en-US" sz="3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04800"/>
            <a:ext cx="2743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2133600"/>
            <a:ext cx="64008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00" y="533400"/>
            <a:ext cx="45720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Hello World – Java Server Side</a:t>
            </a:r>
            <a:endParaRPr lang="en-US" b="1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3581400" cy="246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2286000"/>
            <a:ext cx="6172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38800" y="914400"/>
            <a:ext cx="30129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/>
              <a:t>Hello World – C# Server Side</a:t>
            </a:r>
            <a:endParaRPr lang="en-US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47244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590800"/>
            <a:ext cx="746760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 err="1" smtClean="0"/>
              <a:t>SocketPro</a:t>
            </a:r>
            <a:r>
              <a:rPr lang="en-US" sz="3200" b="1" dirty="0"/>
              <a:t> </a:t>
            </a:r>
            <a:r>
              <a:rPr lang="en-US" sz="3200" b="1" dirty="0" smtClean="0"/>
              <a:t>Integrated </a:t>
            </a:r>
            <a:r>
              <a:rPr lang="en-US" sz="3200" b="1" dirty="0" smtClean="0"/>
              <a:t>Communication Models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001000" cy="4038600"/>
          </a:xfrm>
        </p:spPr>
        <p:txBody>
          <a:bodyPr>
            <a:normAutofit fontScale="85000" lnSpcReduction="20000"/>
          </a:bodyPr>
          <a:lstStyle/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 smtClean="0"/>
              <a:t>Client/server </a:t>
            </a:r>
            <a:r>
              <a:rPr lang="en-US" sz="2800" dirty="0" smtClean="0"/>
              <a:t>model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8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 smtClean="0"/>
              <a:t>Bi-directional messaging </a:t>
            </a:r>
            <a:r>
              <a:rPr lang="en-US" sz="2800" dirty="0" smtClean="0"/>
              <a:t>push (subscribe/publish pattern)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8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 smtClean="0"/>
              <a:t>Routing/Loading balance with auto-fault recovery and session affinity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8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 smtClean="0"/>
              <a:t>Bi-directional persistent </a:t>
            </a:r>
            <a:r>
              <a:rPr lang="en-US" sz="2800" dirty="0" smtClean="0"/>
              <a:t>queue (client and server)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800" dirty="0"/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 smtClean="0"/>
              <a:t>Replication with ACID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8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 err="1" smtClean="0"/>
              <a:t>Async</a:t>
            </a:r>
            <a:r>
              <a:rPr lang="en-US" sz="2800" dirty="0" smtClean="0"/>
              <a:t> (default</a:t>
            </a:r>
            <a:r>
              <a:rPr lang="en-US" sz="2800" dirty="0" smtClean="0"/>
              <a:t>), requests batching, </a:t>
            </a:r>
            <a:r>
              <a:rPr lang="en-US" sz="2800" dirty="0" smtClean="0"/>
              <a:t>and sync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838200"/>
            <a:ext cx="7239000" cy="540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2000" y="1524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/>
              <a:t>Server Queue – Python Client Side</a:t>
            </a:r>
            <a:endParaRPr lang="en-US" sz="3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5715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3200400"/>
            <a:ext cx="60960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867400" y="335340"/>
            <a:ext cx="30129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/>
              <a:t>Server Queue – Python Server Side</a:t>
            </a:r>
            <a:endParaRPr lang="en-US" sz="32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http://www.udaparts.com/document/articles/rado_files/image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600200"/>
            <a:ext cx="7239000" cy="4276726"/>
          </a:xfrm>
          <a:prstGeom prst="rect">
            <a:avLst/>
          </a:prstGeom>
          <a:noFill/>
        </p:spPr>
      </p:pic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 err="1" smtClean="0"/>
              <a:t>SocketPro</a:t>
            </a:r>
            <a:r>
              <a:rPr lang="en-US" sz="3200" b="1" dirty="0"/>
              <a:t> </a:t>
            </a:r>
            <a:r>
              <a:rPr lang="en-US" sz="3200" b="1" dirty="0" smtClean="0"/>
              <a:t>Scalabilities</a:t>
            </a:r>
            <a:endParaRPr lang="en-US" sz="3200" b="1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533400"/>
            <a:ext cx="6503988" cy="5762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750" y="490538"/>
            <a:ext cx="7808913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dirty="0" err="1" smtClean="0"/>
              <a:t>SocketPro</a:t>
            </a:r>
            <a:r>
              <a:rPr lang="en-US" sz="4000" b="1" dirty="0" smtClean="0"/>
              <a:t> Key Advantages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67200"/>
          </a:xfrm>
        </p:spPr>
        <p:txBody>
          <a:bodyPr>
            <a:normAutofit fontScale="92500" lnSpcReduction="20000"/>
          </a:bodyPr>
          <a:lstStyle/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An </a:t>
            </a:r>
            <a:r>
              <a:rPr lang="en-US" sz="2000" dirty="0" smtClean="0"/>
              <a:t>ACF (</a:t>
            </a:r>
            <a:r>
              <a:rPr lang="en-US" sz="2000" dirty="0" err="1" smtClean="0"/>
              <a:t>Async</a:t>
            </a:r>
            <a:r>
              <a:rPr lang="en-US" sz="2000" dirty="0" smtClean="0"/>
              <a:t> Communication Framework) </a:t>
            </a:r>
            <a:r>
              <a:rPr lang="en-US" sz="2000" dirty="0" smtClean="0"/>
              <a:t>on </a:t>
            </a:r>
            <a:r>
              <a:rPr lang="en-US" sz="2000" dirty="0" smtClean="0"/>
              <a:t>TCP/IP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One port for integrated communication models and multiple </a:t>
            </a:r>
            <a:r>
              <a:rPr lang="en-US" sz="2000" dirty="0" smtClean="0"/>
              <a:t>services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Superior latency, performance and </a:t>
            </a:r>
            <a:r>
              <a:rPr lang="en-US" sz="2000" dirty="0" smtClean="0"/>
              <a:t>scalability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Cross operation systems and cross development languages </a:t>
            </a:r>
            <a:r>
              <a:rPr lang="en-US" sz="2000" dirty="0" smtClean="0"/>
              <a:t>supported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Simplicity and fast </a:t>
            </a:r>
            <a:r>
              <a:rPr lang="en-US" sz="2000" dirty="0" smtClean="0"/>
              <a:t>development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Great for challenging tasks (unstable WAN, large collection items, cache real-time update and small messages</a:t>
            </a:r>
            <a:r>
              <a:rPr lang="en-US" sz="2000" dirty="0" smtClean="0"/>
              <a:t>)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Great freedom to architecture design and </a:t>
            </a:r>
            <a:r>
              <a:rPr lang="en-US" sz="2000" dirty="0" smtClean="0"/>
              <a:t>development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Persistent queue for data replication, fault-tolerance and data </a:t>
            </a:r>
            <a:r>
              <a:rPr lang="en-US" sz="2000" dirty="0" smtClean="0"/>
              <a:t>durability</a:t>
            </a:r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 smtClean="0"/>
          </a:p>
          <a:p>
            <a:pPr marL="341313" indent="-34131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smtClean="0"/>
              <a:t>Secure (SSL3/TLSv1)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://www.udaparts.com/document/articles/fastsocketpro_files/image0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038600"/>
            <a:ext cx="5200650" cy="2428875"/>
          </a:xfrm>
          <a:prstGeom prst="rect">
            <a:avLst/>
          </a:prstGeom>
          <a:noFill/>
        </p:spPr>
      </p:pic>
      <p:pic>
        <p:nvPicPr>
          <p:cNvPr id="33796" name="Picture 4" descr="http://www.udaparts.com/document/articles/fastsocketpro_files/image00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599" y="457200"/>
            <a:ext cx="5562601" cy="34194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324600" y="609600"/>
            <a:ext cx="259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Great Performance</a:t>
            </a:r>
          </a:p>
          <a:p>
            <a:pPr algn="ctr"/>
            <a:r>
              <a:rPr lang="en-US" sz="3200" b="1" dirty="0" smtClean="0"/>
              <a:t>Always</a:t>
            </a:r>
            <a:endParaRPr lang="en-US" sz="3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yye\AppData\Local\Temp\SNAGHTMLad008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610599" cy="624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255</Words>
  <Application>Microsoft Office PowerPoint</Application>
  <PresentationFormat>On-screen Show (4:3)</PresentationFormat>
  <Paragraphs>79</Paragraphs>
  <Slides>18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Build Python Distributed Applications by SocketPro</vt:lpstr>
      <vt:lpstr>One vs multiple concurrency processing</vt:lpstr>
      <vt:lpstr>SocketPro Communication Architecture and Components</vt:lpstr>
      <vt:lpstr>Client Core</vt:lpstr>
      <vt:lpstr>Client Socket Pool</vt:lpstr>
      <vt:lpstr>Server Core</vt:lpstr>
      <vt:lpstr>Hello World – Python Client Side</vt:lpstr>
      <vt:lpstr>Hello World – Python Server Side</vt:lpstr>
      <vt:lpstr>Hello World – Java Server Side</vt:lpstr>
      <vt:lpstr>Slide 10</vt:lpstr>
      <vt:lpstr>SocketPro Integrated Communication Models</vt:lpstr>
      <vt:lpstr>Slide 12</vt:lpstr>
      <vt:lpstr>Slide 13</vt:lpstr>
      <vt:lpstr>SocketPro Scalabilities</vt:lpstr>
      <vt:lpstr>Slide 15</vt:lpstr>
      <vt:lpstr>SocketPro Key Advantages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Python Distributed Applications by SocketPro</dc:title>
  <dc:creator>yye</dc:creator>
  <cp:lastModifiedBy>yye</cp:lastModifiedBy>
  <cp:revision>15</cp:revision>
  <dcterms:created xsi:type="dcterms:W3CDTF">2014-08-28T00:38:44Z</dcterms:created>
  <dcterms:modified xsi:type="dcterms:W3CDTF">2014-08-28T02:36:41Z</dcterms:modified>
</cp:coreProperties>
</file>